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6" r:id="rId1"/>
  </p:sldMasterIdLst>
  <p:sldIdLst>
    <p:sldId id="256" r:id="rId2"/>
    <p:sldId id="260" r:id="rId3"/>
    <p:sldId id="257" r:id="rId4"/>
    <p:sldId id="258" r:id="rId5"/>
    <p:sldId id="261" r:id="rId6"/>
    <p:sldId id="262" r:id="rId7"/>
    <p:sldId id="272" r:id="rId8"/>
    <p:sldId id="265" r:id="rId9"/>
    <p:sldId id="268" r:id="rId10"/>
    <p:sldId id="269" r:id="rId11"/>
    <p:sldId id="270" r:id="rId12"/>
    <p:sldId id="27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B7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7727EA-BB7C-44BE-AAAA-97ED4D006C65}" v="410" dt="2022-10-12T16:15:52.920"/>
    <p1510:client id="{E9585544-FCC3-43B8-A050-F9A59EB0556E}" v="855" dt="2022-10-12T15:48:17.3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6" d="100"/>
          <a:sy n="66" d="100"/>
        </p:scale>
        <p:origin x="4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3142959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1050523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7/6/2024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1632665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215306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1435047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7/6/2024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8061522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7/6/2024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1672645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3494286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3985139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5101875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790325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202022705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724389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6752676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37209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6250935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7/6/2024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7772794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7/6/2024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4062895836"/>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41741" y="2547382"/>
            <a:ext cx="9708517" cy="1130825"/>
          </a:xfrm>
        </p:spPr>
        <p:txBody>
          <a:bodyPr>
            <a:normAutofit fontScale="90000"/>
          </a:bodyPr>
          <a:lstStyle/>
          <a:p>
            <a:r>
              <a:rPr lang="en-US" b="1" dirty="0">
                <a:latin typeface="Microsoft New Tai Lue" panose="020B0502040204020203" pitchFamily="34" charset="0"/>
                <a:cs typeface="Microsoft New Tai Lue" panose="020B0502040204020203" pitchFamily="34" charset="0"/>
              </a:rPr>
              <a:t>AIR TRAVEL DATA ANALYSIS</a:t>
            </a:r>
          </a:p>
        </p:txBody>
      </p:sp>
      <p:sp>
        <p:nvSpPr>
          <p:cNvPr id="3" name="Subtitle 2"/>
          <p:cNvSpPr>
            <a:spLocks noGrp="1"/>
          </p:cNvSpPr>
          <p:nvPr>
            <p:ph type="subTitle" idx="1"/>
          </p:nvPr>
        </p:nvSpPr>
        <p:spPr>
          <a:xfrm>
            <a:off x="1241740" y="3651175"/>
            <a:ext cx="5685366" cy="645759"/>
          </a:xfrm>
        </p:spPr>
        <p:txBody>
          <a:bodyPr>
            <a:normAutofit/>
          </a:bodyPr>
          <a:lstStyle/>
          <a:p>
            <a:r>
              <a:rPr lang="en-US" sz="2800" b="1" dirty="0">
                <a:solidFill>
                  <a:schemeClr val="tx1">
                    <a:lumMod val="85000"/>
                    <a:lumOff val="15000"/>
                  </a:schemeClr>
                </a:solidFill>
              </a:rPr>
              <a:t>DETAILED  PROJECT REPORT</a:t>
            </a:r>
          </a:p>
        </p:txBody>
      </p:sp>
      <p:sp>
        <p:nvSpPr>
          <p:cNvPr id="7" name="Slide Number Placeholder 6">
            <a:extLst>
              <a:ext uri="{FF2B5EF4-FFF2-40B4-BE49-F238E27FC236}">
                <a16:creationId xmlns:a16="http://schemas.microsoft.com/office/drawing/2014/main" id="{C7B14470-B960-A70F-FE91-91CDCD2E8297}"/>
              </a:ext>
            </a:extLst>
          </p:cNvPr>
          <p:cNvSpPr>
            <a:spLocks noGrp="1"/>
          </p:cNvSpPr>
          <p:nvPr>
            <p:ph type="sldNum" sz="quarter" idx="12"/>
          </p:nvPr>
        </p:nvSpPr>
        <p:spPr/>
        <p:txBody>
          <a:bodyPr>
            <a:normAutofit/>
          </a:bodyPr>
          <a:lstStyle/>
          <a:p>
            <a:r>
              <a:rPr lang="en-US" b="1" dirty="0">
                <a:solidFill>
                  <a:schemeClr val="bg1"/>
                </a:solidFill>
              </a:rPr>
              <a:t>1</a:t>
            </a:r>
          </a:p>
        </p:txBody>
      </p:sp>
      <p:pic>
        <p:nvPicPr>
          <p:cNvPr id="5" name="Picture 4">
            <a:extLst>
              <a:ext uri="{FF2B5EF4-FFF2-40B4-BE49-F238E27FC236}">
                <a16:creationId xmlns:a16="http://schemas.microsoft.com/office/drawing/2014/main" id="{4DCB7FEF-EA7F-71D4-1617-60757356E3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7800"/>
            <a:ext cx="2857500" cy="16002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6592-5A1A-3E7F-A2D2-4B41D54AF509}"/>
              </a:ext>
            </a:extLst>
          </p:cNvPr>
          <p:cNvSpPr>
            <a:spLocks noGrp="1"/>
          </p:cNvSpPr>
          <p:nvPr>
            <p:ph type="title"/>
          </p:nvPr>
        </p:nvSpPr>
        <p:spPr>
          <a:xfrm>
            <a:off x="997073" y="535136"/>
            <a:ext cx="3896202" cy="955590"/>
          </a:xfrm>
        </p:spPr>
        <p:txBody>
          <a:bodyPr>
            <a:normAutofit fontScale="90000"/>
          </a:bodyPr>
          <a:lstStyle/>
          <a:p>
            <a:r>
              <a:rPr lang="en-US" sz="4400" b="1" dirty="0">
                <a:solidFill>
                  <a:srgbClr val="A6B727"/>
                </a:solidFill>
              </a:rPr>
              <a:t>Project</a:t>
            </a:r>
            <a:r>
              <a:rPr lang="en-US" sz="4400" b="1" dirty="0"/>
              <a:t> details</a:t>
            </a:r>
            <a:r>
              <a:rPr lang="en-US" sz="4400" dirty="0"/>
              <a:t>:</a:t>
            </a:r>
            <a:endParaRPr lang="en-US" dirty="0"/>
          </a:p>
        </p:txBody>
      </p:sp>
      <p:graphicFrame>
        <p:nvGraphicFramePr>
          <p:cNvPr id="8" name="Table 8">
            <a:extLst>
              <a:ext uri="{FF2B5EF4-FFF2-40B4-BE49-F238E27FC236}">
                <a16:creationId xmlns:a16="http://schemas.microsoft.com/office/drawing/2014/main" id="{5C4FDCE3-1D77-289B-E987-C018A9A99405}"/>
              </a:ext>
            </a:extLst>
          </p:cNvPr>
          <p:cNvGraphicFramePr>
            <a:graphicFrameLocks noGrp="1"/>
          </p:cNvGraphicFramePr>
          <p:nvPr>
            <p:ph idx="1"/>
            <p:extLst>
              <p:ext uri="{D42A27DB-BD31-4B8C-83A1-F6EECF244321}">
                <p14:modId xmlns:p14="http://schemas.microsoft.com/office/powerpoint/2010/main" val="671371133"/>
              </p:ext>
            </p:extLst>
          </p:nvPr>
        </p:nvGraphicFramePr>
        <p:xfrm>
          <a:off x="1107056" y="1655544"/>
          <a:ext cx="10674266" cy="4880022"/>
        </p:xfrm>
        <a:graphic>
          <a:graphicData uri="http://schemas.openxmlformats.org/drawingml/2006/table">
            <a:tbl>
              <a:tblPr firstRow="1" bandRow="1">
                <a:tableStyleId>{2D5ABB26-0587-4C30-8999-92F81FD0307C}</a:tableStyleId>
              </a:tblPr>
              <a:tblGrid>
                <a:gridCol w="3667084">
                  <a:extLst>
                    <a:ext uri="{9D8B030D-6E8A-4147-A177-3AD203B41FA5}">
                      <a16:colId xmlns:a16="http://schemas.microsoft.com/office/drawing/2014/main" val="289583114"/>
                    </a:ext>
                  </a:extLst>
                </a:gridCol>
                <a:gridCol w="7007182">
                  <a:extLst>
                    <a:ext uri="{9D8B030D-6E8A-4147-A177-3AD203B41FA5}">
                      <a16:colId xmlns:a16="http://schemas.microsoft.com/office/drawing/2014/main" val="3918275795"/>
                    </a:ext>
                  </a:extLst>
                </a:gridCol>
              </a:tblGrid>
              <a:tr h="1540189">
                <a:tc>
                  <a:txBody>
                    <a:bodyPr/>
                    <a:lstStyle/>
                    <a:p>
                      <a:pPr lvl="0">
                        <a:buNone/>
                      </a:pPr>
                      <a:r>
                        <a:rPr lang="en-US" sz="1800" b="0" i="0" u="none" strike="noStrike" noProof="0" dirty="0">
                          <a:solidFill>
                            <a:schemeClr val="tx1"/>
                          </a:solidFill>
                          <a:latin typeface="Century Gothic"/>
                        </a:rPr>
                        <a:t>    </a:t>
                      </a:r>
                      <a:endParaRPr lang="en-US" sz="1800" b="1" i="0" u="none" strike="noStrike" noProof="0" dirty="0">
                        <a:solidFill>
                          <a:schemeClr val="tx1"/>
                        </a:solidFill>
                        <a:latin typeface="Calibri"/>
                      </a:endParaRPr>
                    </a:p>
                    <a:p>
                      <a:pPr lvl="0">
                        <a:buNone/>
                      </a:pPr>
                      <a:r>
                        <a:rPr lang="en-US" sz="2800" b="1" i="0" u="none" strike="noStrike" noProof="0" dirty="0">
                          <a:solidFill>
                            <a:schemeClr val="tx1"/>
                          </a:solidFill>
                          <a:latin typeface="Calibri"/>
                        </a:rPr>
                        <a:t>    </a:t>
                      </a:r>
                      <a:r>
                        <a:rPr lang="en-US" sz="3200" b="1" i="0" u="none" strike="noStrike" noProof="0" dirty="0">
                          <a:solidFill>
                            <a:schemeClr val="tx1"/>
                          </a:solidFill>
                          <a:latin typeface="Calibri"/>
                        </a:rPr>
                        <a:t>  Project Title</a:t>
                      </a:r>
                      <a:r>
                        <a:rPr lang="en-US" sz="3200" b="1" i="0" u="none" strike="noStrike" noProof="0" dirty="0">
                          <a:solidFill>
                            <a:schemeClr val="bg1"/>
                          </a:solidFill>
                          <a:latin typeface="Calibri"/>
                        </a:rPr>
                        <a:t> </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endParaRPr lang="en-US" sz="3200" b="1" i="0" u="none" strike="noStrike" noProof="0" dirty="0">
                        <a:latin typeface="Century Gothic"/>
                      </a:endParaRPr>
                    </a:p>
                    <a:p>
                      <a:pPr lvl="0">
                        <a:buNone/>
                      </a:pPr>
                      <a:r>
                        <a:rPr lang="en-US" sz="3200" b="1" i="0" u="none" strike="noStrike" noProof="0" dirty="0">
                          <a:latin typeface="Century Gothic"/>
                        </a:rPr>
                        <a:t>         AIR TRAVEL DATA ANALYSIS</a:t>
                      </a:r>
                      <a:endParaRPr lang="en-US" sz="3200" b="1" dirty="0"/>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1657114"/>
                  </a:ext>
                </a:extLst>
              </a:tr>
              <a:tr h="1114077">
                <a:tc>
                  <a:txBody>
                    <a:bodyPr/>
                    <a:lstStyle/>
                    <a:p>
                      <a:endParaRPr lang="en-US"/>
                    </a:p>
                    <a:p>
                      <a:pPr lvl="0">
                        <a:buNone/>
                      </a:pPr>
                      <a:r>
                        <a:rPr lang="en-US" sz="2800" b="1" i="0" u="none" strike="noStrike" noProof="0" dirty="0">
                          <a:latin typeface="Calibri"/>
                        </a:rPr>
                        <a:t>   </a:t>
                      </a:r>
                      <a:r>
                        <a:rPr lang="en-US" sz="3200" b="1" i="0" u="none" strike="noStrike" noProof="0" dirty="0">
                          <a:latin typeface="Calibri"/>
                        </a:rPr>
                        <a:t>  Technologies </a:t>
                      </a:r>
                      <a:endParaRPr lang="en-US" sz="3200" dirty="0"/>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endParaRPr lang="en-US" sz="3200" b="1" i="0" u="none" strike="noStrike" noProof="0" dirty="0">
                        <a:latin typeface="Century Gothic"/>
                      </a:endParaRPr>
                    </a:p>
                    <a:p>
                      <a:pPr lvl="0">
                        <a:buNone/>
                      </a:pPr>
                      <a:r>
                        <a:rPr lang="en-US" sz="3200" b="1" i="0" u="none" strike="noStrike" noProof="0" dirty="0">
                          <a:latin typeface="Century Gothic"/>
                        </a:rPr>
                        <a:t>        Business Intelligence</a:t>
                      </a:r>
                      <a:endParaRPr lang="en-US" sz="3200" b="1" dirty="0"/>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68354086"/>
                  </a:ext>
                </a:extLst>
              </a:tr>
              <a:tr h="1112878">
                <a:tc>
                  <a:txBody>
                    <a:bodyPr/>
                    <a:lstStyle/>
                    <a:p>
                      <a:pPr lvl="0">
                        <a:buNone/>
                      </a:pPr>
                      <a:r>
                        <a:rPr lang="en-US" sz="3200" b="1" i="0" u="none" strike="noStrike" noProof="0" dirty="0">
                          <a:latin typeface="Calibri"/>
                        </a:rPr>
                        <a:t>            </a:t>
                      </a:r>
                      <a:endParaRPr lang="en-US" sz="3200" dirty="0"/>
                    </a:p>
                    <a:p>
                      <a:pPr lvl="0">
                        <a:buNone/>
                      </a:pPr>
                      <a:r>
                        <a:rPr lang="en-US" sz="3200" b="1" i="0" u="none" strike="noStrike" noProof="0" dirty="0">
                          <a:latin typeface="Calibri"/>
                        </a:rPr>
                        <a:t>         Domain </a:t>
                      </a:r>
                      <a:endParaRPr lang="en-US" sz="3200" dirty="0"/>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sz="3200" b="1" i="0" u="none" strike="noStrike" noProof="0" dirty="0">
                          <a:latin typeface="Century Gothic"/>
                        </a:rPr>
                        <a:t>                </a:t>
                      </a:r>
                    </a:p>
                    <a:p>
                      <a:pPr lvl="0">
                        <a:buNone/>
                      </a:pPr>
                      <a:r>
                        <a:rPr lang="en-US" sz="3200" b="1" i="0" u="none" strike="noStrike" noProof="0" dirty="0">
                          <a:latin typeface="Century Gothic"/>
                        </a:rPr>
                        <a:t>                TRAVEL</a:t>
                      </a:r>
                      <a:endParaRPr lang="en-US" sz="3200" b="1" dirty="0"/>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303854398"/>
                  </a:ext>
                </a:extLst>
              </a:tr>
              <a:tr h="1112878">
                <a:tc>
                  <a:txBody>
                    <a:bodyPr/>
                    <a:lstStyle/>
                    <a:p>
                      <a:pPr lvl="0">
                        <a:buNone/>
                      </a:pPr>
                      <a:endParaRPr lang="en-US" sz="3200" b="1" i="0" u="none" strike="noStrike" noProof="0" dirty="0">
                        <a:latin typeface="Calibri"/>
                      </a:endParaRPr>
                    </a:p>
                    <a:p>
                      <a:pPr lvl="0">
                        <a:buNone/>
                      </a:pPr>
                      <a:r>
                        <a:rPr lang="en-US" sz="3200" b="1" i="0" u="none" strike="noStrike" noProof="0" dirty="0">
                          <a:latin typeface="Calibri"/>
                        </a:rPr>
                        <a:t> Difficulties  level </a:t>
                      </a:r>
                      <a:endParaRPr lang="en-US" sz="3200" dirty="0"/>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sz="3200" b="1" i="0" u="none" strike="noStrike" noProof="0" dirty="0">
                          <a:latin typeface="Century Gothic"/>
                        </a:rPr>
                        <a:t>               </a:t>
                      </a:r>
                      <a:endParaRPr lang="en-US" sz="3200" b="1" dirty="0"/>
                    </a:p>
                    <a:p>
                      <a:pPr lvl="0">
                        <a:buNone/>
                      </a:pPr>
                      <a:r>
                        <a:rPr lang="en-US" sz="3200" b="1" i="0" u="none" strike="noStrike" noProof="0" dirty="0">
                          <a:latin typeface="Century Gothic"/>
                        </a:rPr>
                        <a:t>          Intermediate</a:t>
                      </a:r>
                      <a:endParaRPr lang="en-US" sz="3200" b="1" dirty="0"/>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507968357"/>
                  </a:ext>
                </a:extLst>
              </a:tr>
            </a:tbl>
          </a:graphicData>
        </a:graphic>
      </p:graphicFrame>
      <p:sp>
        <p:nvSpPr>
          <p:cNvPr id="9" name="Slide Number Placeholder 8">
            <a:extLst>
              <a:ext uri="{FF2B5EF4-FFF2-40B4-BE49-F238E27FC236}">
                <a16:creationId xmlns:a16="http://schemas.microsoft.com/office/drawing/2014/main" id="{40E1B669-E6C0-EBC1-302C-5B51C456705B}"/>
              </a:ext>
            </a:extLst>
          </p:cNvPr>
          <p:cNvSpPr>
            <a:spLocks noGrp="1"/>
          </p:cNvSpPr>
          <p:nvPr>
            <p:ph type="sldNum" sz="quarter" idx="12"/>
          </p:nvPr>
        </p:nvSpPr>
        <p:spPr/>
        <p:txBody>
          <a:bodyPr>
            <a:normAutofit/>
          </a:bodyPr>
          <a:lstStyle/>
          <a:p>
            <a:fld id="{D57F1E4F-1CFF-5643-939E-02111984F565}" type="slidenum">
              <a:rPr lang="en-US" dirty="0"/>
              <a:t>2</a:t>
            </a:fld>
            <a:endParaRPr lang="en-US"/>
          </a:p>
        </p:txBody>
      </p:sp>
    </p:spTree>
    <p:extLst>
      <p:ext uri="{BB962C8B-B14F-4D97-AF65-F5344CB8AC3E}">
        <p14:creationId xmlns:p14="http://schemas.microsoft.com/office/powerpoint/2010/main" val="119369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1C40E-F688-A2BE-4515-4AFDA95B00CB}"/>
              </a:ext>
            </a:extLst>
          </p:cNvPr>
          <p:cNvSpPr>
            <a:spLocks noGrp="1"/>
          </p:cNvSpPr>
          <p:nvPr>
            <p:ph type="title"/>
          </p:nvPr>
        </p:nvSpPr>
        <p:spPr>
          <a:xfrm>
            <a:off x="711199" y="729201"/>
            <a:ext cx="9960481" cy="5406886"/>
          </a:xfrm>
        </p:spPr>
        <p:txBody>
          <a:bodyPr>
            <a:normAutofit/>
          </a:bodyPr>
          <a:lstStyle/>
          <a:p>
            <a:r>
              <a:rPr lang="en-US" sz="2800" b="1" dirty="0">
                <a:solidFill>
                  <a:srgbClr val="A6B727"/>
                </a:solidFill>
                <a:ea typeface="+mj-lt"/>
                <a:cs typeface="+mj-lt"/>
              </a:rPr>
              <a:t>Objective: </a:t>
            </a:r>
            <a:br>
              <a:rPr lang="en-US" sz="2000" dirty="0">
                <a:solidFill>
                  <a:schemeClr val="tx1"/>
                </a:solidFill>
                <a:ea typeface="+mj-lt"/>
                <a:cs typeface="+mj-lt"/>
              </a:rPr>
            </a:br>
            <a:br>
              <a:rPr lang="en-US" sz="2000" dirty="0">
                <a:solidFill>
                  <a:schemeClr val="tx1"/>
                </a:solidFill>
                <a:ea typeface="+mj-lt"/>
                <a:cs typeface="+mj-lt"/>
              </a:rPr>
            </a:br>
            <a:br>
              <a:rPr lang="en-US" sz="2000" dirty="0">
                <a:solidFill>
                  <a:schemeClr val="tx1"/>
                </a:solidFill>
                <a:ea typeface="+mj-lt"/>
                <a:cs typeface="+mj-lt"/>
              </a:rPr>
            </a:br>
            <a:br>
              <a:rPr lang="en-US" sz="2000" dirty="0">
                <a:solidFill>
                  <a:schemeClr val="tx1"/>
                </a:solidFill>
                <a:ea typeface="+mj-lt"/>
                <a:cs typeface="+mj-lt"/>
              </a:rPr>
            </a:br>
            <a:r>
              <a:rPr lang="en-US" sz="2000" dirty="0">
                <a:latin typeface="Microsoft YaHei" panose="020B0503020204020204" pitchFamily="34" charset="-122"/>
                <a:ea typeface="Microsoft YaHei" panose="020B0503020204020204" pitchFamily="34" charset="-122"/>
              </a:rPr>
              <a:t>The primary objective of this project is to analyze comprehensive air travel data to derive actionable insights that can enhance decision-making for airlines and stakeholders. This includes examining flight operations, route efficiency, and traffic volume to identify key trends and performance metrics. The project aims to improve operational efficiency by identifying factors contributing to delays and on-time performance. Additionally, it seeks to provide valuable marketing insights by analyzing airline promotional activities and market positioning. Overall, the project strives to enhance customer satisfaction by understanding passenger preferences and service quality.</a:t>
            </a:r>
            <a:br>
              <a:rPr lang="en-US" sz="2000" dirty="0">
                <a:solidFill>
                  <a:schemeClr val="tx1"/>
                </a:solidFill>
                <a:latin typeface="Microsoft YaHei" panose="020B0503020204020204" pitchFamily="34" charset="-122"/>
                <a:ea typeface="Microsoft YaHei" panose="020B0503020204020204" pitchFamily="34" charset="-122"/>
                <a:cs typeface="+mj-lt"/>
              </a:rPr>
            </a:br>
            <a:endParaRPr lang="en-US" sz="2000" dirty="0">
              <a:solidFill>
                <a:schemeClr val="tx1"/>
              </a:solidFill>
              <a:latin typeface="Microsoft YaHei" panose="020B0503020204020204" pitchFamily="34" charset="-122"/>
              <a:ea typeface="Microsoft YaHei" panose="020B0503020204020204" pitchFamily="34" charset="-122"/>
              <a:cs typeface="+mj-lt"/>
            </a:endParaRPr>
          </a:p>
        </p:txBody>
      </p:sp>
      <p:sp>
        <p:nvSpPr>
          <p:cNvPr id="3" name="Content Placeholder 2">
            <a:extLst>
              <a:ext uri="{FF2B5EF4-FFF2-40B4-BE49-F238E27FC236}">
                <a16:creationId xmlns:a16="http://schemas.microsoft.com/office/drawing/2014/main" id="{7B79DB00-A010-5972-92C7-3DCE75D2515C}"/>
              </a:ext>
            </a:extLst>
          </p:cNvPr>
          <p:cNvSpPr>
            <a:spLocks noGrp="1"/>
          </p:cNvSpPr>
          <p:nvPr>
            <p:ph idx="1"/>
          </p:nvPr>
        </p:nvSpPr>
        <p:spPr>
          <a:xfrm>
            <a:off x="13367199" y="6136087"/>
            <a:ext cx="10384277" cy="4051708"/>
          </a:xfrm>
        </p:spPr>
        <p:txBody>
          <a:bodyPr/>
          <a:lstStyle/>
          <a:p>
            <a:endParaRPr lang="en-US"/>
          </a:p>
        </p:txBody>
      </p:sp>
      <p:sp>
        <p:nvSpPr>
          <p:cNvPr id="7" name="Slide Number Placeholder 6">
            <a:extLst>
              <a:ext uri="{FF2B5EF4-FFF2-40B4-BE49-F238E27FC236}">
                <a16:creationId xmlns:a16="http://schemas.microsoft.com/office/drawing/2014/main" id="{79DF96F1-D0E5-6F88-E4CA-7A1C51B2A758}"/>
              </a:ext>
            </a:extLst>
          </p:cNvPr>
          <p:cNvSpPr>
            <a:spLocks noGrp="1"/>
          </p:cNvSpPr>
          <p:nvPr>
            <p:ph type="sldNum" sz="quarter" idx="12"/>
          </p:nvPr>
        </p:nvSpPr>
        <p:spPr/>
        <p:txBody>
          <a:bodyPr>
            <a:normAutofit/>
          </a:bodyPr>
          <a:lstStyle/>
          <a:p>
            <a:fld id="{D57F1E4F-1CFF-5643-939E-02111984F565}" type="slidenum">
              <a:rPr lang="en-US" dirty="0"/>
              <a:t>3</a:t>
            </a:fld>
            <a:endParaRPr lang="en-US"/>
          </a:p>
        </p:txBody>
      </p:sp>
    </p:spTree>
    <p:extLst>
      <p:ext uri="{BB962C8B-B14F-4D97-AF65-F5344CB8AC3E}">
        <p14:creationId xmlns:p14="http://schemas.microsoft.com/office/powerpoint/2010/main" val="1269335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1AD2-4BC9-36CD-024D-29906B6000DE}"/>
              </a:ext>
            </a:extLst>
          </p:cNvPr>
          <p:cNvSpPr>
            <a:spLocks noGrp="1"/>
          </p:cNvSpPr>
          <p:nvPr>
            <p:ph type="title"/>
          </p:nvPr>
        </p:nvSpPr>
        <p:spPr>
          <a:xfrm>
            <a:off x="14721545" y="5542303"/>
            <a:ext cx="9404723" cy="1400530"/>
          </a:xfrm>
        </p:spPr>
        <p:txBody>
          <a:bodyPr/>
          <a:lstStyle/>
          <a:p>
            <a:endParaRPr lang="en-US"/>
          </a:p>
        </p:txBody>
      </p:sp>
      <p:sp>
        <p:nvSpPr>
          <p:cNvPr id="3" name="Content Placeholder 2">
            <a:extLst>
              <a:ext uri="{FF2B5EF4-FFF2-40B4-BE49-F238E27FC236}">
                <a16:creationId xmlns:a16="http://schemas.microsoft.com/office/drawing/2014/main" id="{65AACA75-0555-8919-708A-CF4283E6A1CA}"/>
              </a:ext>
            </a:extLst>
          </p:cNvPr>
          <p:cNvSpPr>
            <a:spLocks noGrp="1"/>
          </p:cNvSpPr>
          <p:nvPr>
            <p:ph idx="1"/>
          </p:nvPr>
        </p:nvSpPr>
        <p:spPr>
          <a:xfrm>
            <a:off x="282574" y="0"/>
            <a:ext cx="5467219" cy="1463782"/>
          </a:xfrm>
        </p:spPr>
        <p:txBody>
          <a:bodyPr vert="horz" lIns="91440" tIns="45720" rIns="91440" bIns="45720" rtlCol="0" anchor="t">
            <a:normAutofit/>
          </a:bodyPr>
          <a:lstStyle/>
          <a:p>
            <a:pPr marL="0" indent="0" algn="just">
              <a:buClr>
                <a:srgbClr val="8AD0D6"/>
              </a:buClr>
              <a:buNone/>
            </a:pPr>
            <a:br>
              <a:rPr lang="en-US" sz="2800" dirty="0">
                <a:ea typeface="+mj-lt"/>
                <a:cs typeface="+mj-lt"/>
              </a:rPr>
            </a:br>
            <a:r>
              <a:rPr lang="en-US" sz="4400" b="1" dirty="0">
                <a:ea typeface="+mj-lt"/>
                <a:cs typeface="+mj-lt"/>
              </a:rPr>
              <a:t>Problem Statement:</a:t>
            </a:r>
            <a:endParaRPr lang="en-US" sz="4400" dirty="0">
              <a:ea typeface="+mj-lt"/>
              <a:cs typeface="+mj-lt"/>
            </a:endParaRPr>
          </a:p>
          <a:p>
            <a:pPr algn="just">
              <a:buClr>
                <a:srgbClr val="8AD0D6"/>
              </a:buClr>
            </a:pPr>
            <a:endParaRPr lang="en-US" sz="4000" b="1" dirty="0">
              <a:ea typeface="+mj-lt"/>
              <a:cs typeface="+mj-lt"/>
            </a:endParaRPr>
          </a:p>
          <a:p>
            <a:pPr algn="just">
              <a:buClr>
                <a:srgbClr val="8AD0D6"/>
              </a:buClr>
            </a:pPr>
            <a:endParaRPr lang="en-US" sz="4000" b="1" dirty="0">
              <a:ea typeface="+mj-lt"/>
              <a:cs typeface="+mj-lt"/>
            </a:endParaRPr>
          </a:p>
          <a:p>
            <a:pPr algn="just">
              <a:buClr>
                <a:srgbClr val="8AD0D6"/>
              </a:buClr>
            </a:pPr>
            <a:endParaRPr lang="en-US" sz="4000" dirty="0">
              <a:ea typeface="+mj-lt"/>
              <a:cs typeface="+mj-lt"/>
            </a:endParaRPr>
          </a:p>
        </p:txBody>
      </p:sp>
      <p:sp>
        <p:nvSpPr>
          <p:cNvPr id="7" name="Slide Number Placeholder 6">
            <a:extLst>
              <a:ext uri="{FF2B5EF4-FFF2-40B4-BE49-F238E27FC236}">
                <a16:creationId xmlns:a16="http://schemas.microsoft.com/office/drawing/2014/main" id="{C3091147-AA03-9574-1014-82C33F2DB670}"/>
              </a:ext>
            </a:extLst>
          </p:cNvPr>
          <p:cNvSpPr>
            <a:spLocks noGrp="1"/>
          </p:cNvSpPr>
          <p:nvPr>
            <p:ph type="sldNum" sz="quarter" idx="12"/>
          </p:nvPr>
        </p:nvSpPr>
        <p:spPr/>
        <p:txBody>
          <a:bodyPr>
            <a:normAutofit/>
          </a:bodyPr>
          <a:lstStyle/>
          <a:p>
            <a:fld id="{D57F1E4F-1CFF-5643-939E-02111984F565}" type="slidenum">
              <a:rPr lang="en-US" dirty="0"/>
              <a:t>4</a:t>
            </a:fld>
            <a:endParaRPr lang="en-US"/>
          </a:p>
        </p:txBody>
      </p:sp>
      <p:sp>
        <p:nvSpPr>
          <p:cNvPr id="6" name="TextBox 5">
            <a:extLst>
              <a:ext uri="{FF2B5EF4-FFF2-40B4-BE49-F238E27FC236}">
                <a16:creationId xmlns:a16="http://schemas.microsoft.com/office/drawing/2014/main" id="{1AD99C65-2EBB-5429-D4CD-6569A93C3B61}"/>
              </a:ext>
            </a:extLst>
          </p:cNvPr>
          <p:cNvSpPr txBox="1"/>
          <p:nvPr/>
        </p:nvSpPr>
        <p:spPr>
          <a:xfrm>
            <a:off x="611993" y="1850629"/>
            <a:ext cx="10053614" cy="378565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l"/>
            <a:r>
              <a:rPr lang="en-US" sz="2400" dirty="0">
                <a:latin typeface="Microsoft YaHei" panose="020B0503020204020204" pitchFamily="34" charset="-122"/>
                <a:ea typeface="Microsoft YaHei" panose="020B0503020204020204" pitchFamily="34" charset="-122"/>
              </a:rPr>
              <a:t>Airlines face challenges in optimizing their operations, marketing strategies, and customer satisfaction due to the vast amount of complex and unstructured data. Identifying key trends in route efficiency, traffic volume, and on-time performance requires comprehensive data analysis. Delays and inconsistent punctuality rates further complicate operational efficiency. Additionally, understanding market positioning and passenger preferences remains a critical hurdle. This project aims to address these challenges by leveraging data analytics to derive actionable insights for improving airline performance and decision-making.</a:t>
            </a:r>
            <a:endParaRPr lang="en-US" dirty="0">
              <a:latin typeface="Microsoft YaHei" panose="020B0503020204020204" pitchFamily="34" charset="-122"/>
              <a:ea typeface="Microsoft YaHei" panose="020B0503020204020204" pitchFamily="34" charset="-122"/>
              <a:cs typeface="Arial"/>
            </a:endParaRPr>
          </a:p>
        </p:txBody>
      </p:sp>
    </p:spTree>
    <p:extLst>
      <p:ext uri="{BB962C8B-B14F-4D97-AF65-F5344CB8AC3E}">
        <p14:creationId xmlns:p14="http://schemas.microsoft.com/office/powerpoint/2010/main" val="1487554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4E1B-A4AD-64E0-5480-5F93EB29312E}"/>
              </a:ext>
            </a:extLst>
          </p:cNvPr>
          <p:cNvSpPr>
            <a:spLocks noGrp="1"/>
          </p:cNvSpPr>
          <p:nvPr>
            <p:ph type="title"/>
          </p:nvPr>
        </p:nvSpPr>
        <p:spPr>
          <a:xfrm>
            <a:off x="740908" y="1461147"/>
            <a:ext cx="10030731" cy="4708647"/>
          </a:xfrm>
        </p:spPr>
        <p:txBody>
          <a:bodyPr>
            <a:normAutofit fontScale="90000"/>
          </a:bodyPr>
          <a:lstStyle/>
          <a:p>
            <a:r>
              <a:rPr lang="en-US" sz="4900" b="1" dirty="0"/>
              <a:t>Dataset information:</a:t>
            </a:r>
            <a:br>
              <a:rPr lang="en-US" b="1" dirty="0"/>
            </a:br>
            <a:br>
              <a:rPr lang="en-US" sz="2700" dirty="0">
                <a:solidFill>
                  <a:schemeClr val="tx1"/>
                </a:solidFill>
              </a:rPr>
            </a:br>
            <a:r>
              <a:rPr lang="en-US" sz="2000" dirty="0"/>
              <a:t>The dataset contains detailed information regarding flight operations and events, captured across various columns:</a:t>
            </a:r>
            <a:br>
              <a:rPr lang="en-US" sz="2000" dirty="0"/>
            </a:br>
            <a:br>
              <a:rPr lang="en-US" sz="2000" dirty="0"/>
            </a:br>
            <a:r>
              <a:rPr lang="en-US" sz="2000" b="1" dirty="0"/>
              <a:t>Actual Timestamp</a:t>
            </a:r>
            <a:r>
              <a:rPr lang="en-US" sz="2000" dirty="0"/>
              <a:t>: The actual timestamp when a specific event or action occurred  during the flight.</a:t>
            </a:r>
            <a:br>
              <a:rPr lang="en-US" sz="2000" dirty="0"/>
            </a:br>
            <a:r>
              <a:rPr lang="en-US" sz="2000" b="1" dirty="0"/>
              <a:t>Airline</a:t>
            </a:r>
            <a:r>
              <a:rPr lang="en-US" sz="2000" dirty="0"/>
              <a:t>: The airline responsible for operating the flight.</a:t>
            </a:r>
            <a:br>
              <a:rPr lang="en-US" sz="2000" dirty="0"/>
            </a:br>
            <a:r>
              <a:rPr lang="en-US" sz="2000" b="1" dirty="0"/>
              <a:t>Arrival Latitude</a:t>
            </a:r>
            <a:r>
              <a:rPr lang="en-US" sz="2000" dirty="0"/>
              <a:t>: The latitude coordinates of the arrival airport.</a:t>
            </a:r>
            <a:br>
              <a:rPr lang="en-US" sz="2000" dirty="0"/>
            </a:br>
            <a:r>
              <a:rPr lang="en-US" sz="2000" b="1" dirty="0"/>
              <a:t>Arrival Longitude</a:t>
            </a:r>
            <a:r>
              <a:rPr lang="en-US" sz="2000" dirty="0"/>
              <a:t>: The longitude coordinates of the arrival airport.</a:t>
            </a:r>
            <a:br>
              <a:rPr lang="en-US" sz="2000" dirty="0"/>
            </a:br>
            <a:r>
              <a:rPr lang="en-US" sz="2000" b="1" dirty="0"/>
              <a:t>Base Airline</a:t>
            </a:r>
            <a:r>
              <a:rPr lang="en-US" sz="2000" dirty="0"/>
              <a:t>: The primary airline associated with the flight operation.</a:t>
            </a:r>
            <a:br>
              <a:rPr lang="en-US" sz="2000" dirty="0"/>
            </a:br>
            <a:r>
              <a:rPr lang="en-US" sz="2000" b="1" dirty="0"/>
              <a:t>Base Flight Number</a:t>
            </a:r>
            <a:r>
              <a:rPr lang="en-US" sz="2000" dirty="0"/>
              <a:t>: The base identifier for the flight within the airline's scheduling system.</a:t>
            </a:r>
            <a:br>
              <a:rPr lang="en-US" sz="2000" dirty="0"/>
            </a:br>
            <a:r>
              <a:rPr lang="en-US" sz="2000" b="1" dirty="0"/>
              <a:t>Date</a:t>
            </a:r>
            <a:r>
              <a:rPr lang="en-US" sz="2000" dirty="0"/>
              <a:t>: The date of the flight or event.</a:t>
            </a:r>
            <a:br>
              <a:rPr lang="en-US" sz="1000" dirty="0"/>
            </a:br>
            <a:endParaRPr lang="en-US" sz="2000" dirty="0">
              <a:ea typeface="+mj-lt"/>
              <a:cs typeface="+mj-lt"/>
            </a:endParaRPr>
          </a:p>
        </p:txBody>
      </p:sp>
      <p:sp>
        <p:nvSpPr>
          <p:cNvPr id="5" name="Slide Number Placeholder 4">
            <a:extLst>
              <a:ext uri="{FF2B5EF4-FFF2-40B4-BE49-F238E27FC236}">
                <a16:creationId xmlns:a16="http://schemas.microsoft.com/office/drawing/2014/main" id="{4AD478A9-0322-3EB8-4788-D5AD9DB35ABA}"/>
              </a:ext>
            </a:extLst>
          </p:cNvPr>
          <p:cNvSpPr>
            <a:spLocks noGrp="1"/>
          </p:cNvSpPr>
          <p:nvPr>
            <p:ph type="sldNum" sz="quarter" idx="12"/>
          </p:nvPr>
        </p:nvSpPr>
        <p:spPr/>
        <p:txBody>
          <a:bodyPr>
            <a:normAutofit/>
          </a:bodyPr>
          <a:lstStyle/>
          <a:p>
            <a:fld id="{D57F1E4F-1CFF-5643-939E-02111984F565}" type="slidenum">
              <a:rPr lang="en-US" dirty="0"/>
              <a:t>5</a:t>
            </a:fld>
            <a:endParaRPr lang="en-US"/>
          </a:p>
        </p:txBody>
      </p:sp>
    </p:spTree>
    <p:extLst>
      <p:ext uri="{BB962C8B-B14F-4D97-AF65-F5344CB8AC3E}">
        <p14:creationId xmlns:p14="http://schemas.microsoft.com/office/powerpoint/2010/main" val="239909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B222-BF39-A9ED-E524-1F1E6C19D726}"/>
              </a:ext>
            </a:extLst>
          </p:cNvPr>
          <p:cNvSpPr>
            <a:spLocks noGrp="1"/>
          </p:cNvSpPr>
          <p:nvPr>
            <p:ph type="title"/>
          </p:nvPr>
        </p:nvSpPr>
        <p:spPr>
          <a:xfrm>
            <a:off x="590956" y="1063416"/>
            <a:ext cx="9915401" cy="5260381"/>
          </a:xfrm>
        </p:spPr>
        <p:txBody>
          <a:bodyPr>
            <a:normAutofit fontScale="90000"/>
          </a:bodyPr>
          <a:lstStyle/>
          <a:p>
            <a:pPr lvl="0" defTabSz="914400" eaLnBrk="0" fontAlgn="base" hangingPunct="0">
              <a:spcAft>
                <a:spcPct val="0"/>
              </a:spcAft>
            </a:pPr>
            <a:r>
              <a:rPr lang="en-US" altLang="en-US" sz="2200" b="1" dirty="0">
                <a:solidFill>
                  <a:schemeClr val="tx1"/>
                </a:solidFill>
                <a:latin typeface="Microsoft YaHei" panose="020B0503020204020204" pitchFamily="34" charset="-122"/>
                <a:ea typeface="Microsoft YaHei" panose="020B0503020204020204" pitchFamily="34" charset="-122"/>
              </a:rPr>
              <a:t>Departure Latitude:</a:t>
            </a:r>
            <a:r>
              <a:rPr lang="en-US" altLang="en-US" sz="2200" dirty="0">
                <a:solidFill>
                  <a:schemeClr val="tx1"/>
                </a:solidFill>
                <a:latin typeface="Microsoft YaHei" panose="020B0503020204020204" pitchFamily="34" charset="-122"/>
                <a:ea typeface="Microsoft YaHei" panose="020B0503020204020204" pitchFamily="34" charset="-122"/>
              </a:rPr>
              <a:t> The latitude coordinates of the departure airport.</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Departure Longitude:</a:t>
            </a:r>
            <a:r>
              <a:rPr lang="en-US" altLang="en-US" sz="2200" dirty="0">
                <a:solidFill>
                  <a:schemeClr val="tx1"/>
                </a:solidFill>
                <a:latin typeface="Microsoft YaHei" panose="020B0503020204020204" pitchFamily="34" charset="-122"/>
                <a:ea typeface="Microsoft YaHei" panose="020B0503020204020204" pitchFamily="34" charset="-122"/>
              </a:rPr>
              <a:t> The longitude coordinates of the departure airport.</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Destination:</a:t>
            </a:r>
            <a:r>
              <a:rPr lang="en-US" altLang="en-US" sz="2200" dirty="0">
                <a:solidFill>
                  <a:schemeClr val="tx1"/>
                </a:solidFill>
                <a:latin typeface="Microsoft YaHei" panose="020B0503020204020204" pitchFamily="34" charset="-122"/>
                <a:ea typeface="Microsoft YaHei" panose="020B0503020204020204" pitchFamily="34" charset="-122"/>
              </a:rPr>
              <a:t> The final destination of the flight.</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Distance:</a:t>
            </a:r>
            <a:r>
              <a:rPr lang="en-US" altLang="en-US" sz="2200" dirty="0">
                <a:solidFill>
                  <a:schemeClr val="tx1"/>
                </a:solidFill>
                <a:latin typeface="Microsoft YaHei" panose="020B0503020204020204" pitchFamily="34" charset="-122"/>
                <a:ea typeface="Microsoft YaHei" panose="020B0503020204020204" pitchFamily="34" charset="-122"/>
              </a:rPr>
              <a:t> The distance covered during the flight.</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Estimated Timestamp:</a:t>
            </a:r>
            <a:r>
              <a:rPr lang="en-US" altLang="en-US" sz="2200" dirty="0">
                <a:solidFill>
                  <a:schemeClr val="tx1"/>
                </a:solidFill>
                <a:latin typeface="Microsoft YaHei" panose="020B0503020204020204" pitchFamily="34" charset="-122"/>
                <a:ea typeface="Microsoft YaHei" panose="020B0503020204020204" pitchFamily="34" charset="-122"/>
              </a:rPr>
              <a:t> The estimated timestamp for events or actions during the flight.</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Event Type:</a:t>
            </a:r>
            <a:r>
              <a:rPr lang="en-US" altLang="en-US" sz="2200" dirty="0">
                <a:solidFill>
                  <a:schemeClr val="tx1"/>
                </a:solidFill>
                <a:latin typeface="Microsoft YaHei" panose="020B0503020204020204" pitchFamily="34" charset="-122"/>
                <a:ea typeface="Microsoft YaHei" panose="020B0503020204020204" pitchFamily="34" charset="-122"/>
              </a:rPr>
              <a:t> Type of event or action occurring during the flight (e.g., departure, arrival, delay).</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Flight Number:</a:t>
            </a:r>
            <a:r>
              <a:rPr lang="en-US" altLang="en-US" sz="2200" dirty="0">
                <a:solidFill>
                  <a:schemeClr val="tx1"/>
                </a:solidFill>
                <a:latin typeface="Microsoft YaHei" panose="020B0503020204020204" pitchFamily="34" charset="-122"/>
                <a:ea typeface="Microsoft YaHei" panose="020B0503020204020204" pitchFamily="34" charset="-122"/>
              </a:rPr>
              <a:t> The unique identifier assigned to the flight.</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Flights Type:</a:t>
            </a:r>
            <a:r>
              <a:rPr lang="en-US" altLang="en-US" sz="2200" dirty="0">
                <a:solidFill>
                  <a:schemeClr val="tx1"/>
                </a:solidFill>
                <a:latin typeface="Microsoft YaHei" panose="020B0503020204020204" pitchFamily="34" charset="-122"/>
                <a:ea typeface="Microsoft YaHei" panose="020B0503020204020204" pitchFamily="34" charset="-122"/>
              </a:rPr>
              <a:t> Type of flight (e.g., domestic, international).</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Gate:</a:t>
            </a:r>
            <a:r>
              <a:rPr lang="en-US" altLang="en-US" sz="2200" dirty="0">
                <a:solidFill>
                  <a:schemeClr val="tx1"/>
                </a:solidFill>
                <a:latin typeface="Microsoft YaHei" panose="020B0503020204020204" pitchFamily="34" charset="-122"/>
                <a:ea typeface="Microsoft YaHei" panose="020B0503020204020204" pitchFamily="34" charset="-122"/>
              </a:rPr>
              <a:t> The gate assigned to the flight at the departure or arrival airport.</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Geometry Type:</a:t>
            </a:r>
            <a:r>
              <a:rPr lang="en-US" altLang="en-US" sz="2200" dirty="0">
                <a:solidFill>
                  <a:schemeClr val="tx1"/>
                </a:solidFill>
                <a:latin typeface="Microsoft YaHei" panose="020B0503020204020204" pitchFamily="34" charset="-122"/>
                <a:ea typeface="Microsoft YaHei" panose="020B0503020204020204" pitchFamily="34" charset="-122"/>
              </a:rPr>
              <a:t> Type of geometric data representation (e.g., point, line).</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Route:</a:t>
            </a:r>
            <a:r>
              <a:rPr lang="en-US" altLang="en-US" sz="2200" dirty="0">
                <a:solidFill>
                  <a:schemeClr val="tx1"/>
                </a:solidFill>
                <a:latin typeface="Microsoft YaHei" panose="020B0503020204020204" pitchFamily="34" charset="-122"/>
                <a:ea typeface="Microsoft YaHei" panose="020B0503020204020204" pitchFamily="34" charset="-122"/>
              </a:rPr>
              <a:t> The specific path or route taken by the flight.</a:t>
            </a:r>
            <a:br>
              <a:rPr lang="en-US" altLang="en-US" sz="2200" dirty="0">
                <a:solidFill>
                  <a:schemeClr val="tx1"/>
                </a:solidFill>
                <a:latin typeface="Microsoft YaHei" panose="020B0503020204020204" pitchFamily="34" charset="-122"/>
                <a:ea typeface="Microsoft YaHei" panose="020B0503020204020204" pitchFamily="34" charset="-122"/>
              </a:rPr>
            </a:br>
            <a:r>
              <a:rPr lang="en-US" altLang="en-US" sz="2200" b="1" dirty="0">
                <a:solidFill>
                  <a:schemeClr val="tx1"/>
                </a:solidFill>
                <a:latin typeface="Microsoft YaHei" panose="020B0503020204020204" pitchFamily="34" charset="-122"/>
                <a:ea typeface="Microsoft YaHei" panose="020B0503020204020204" pitchFamily="34" charset="-122"/>
              </a:rPr>
              <a:t>Source:</a:t>
            </a:r>
            <a:r>
              <a:rPr lang="en-US" altLang="en-US" sz="2200" dirty="0">
                <a:solidFill>
                  <a:schemeClr val="tx1"/>
                </a:solidFill>
                <a:latin typeface="Microsoft YaHei" panose="020B0503020204020204" pitchFamily="34" charset="-122"/>
                <a:ea typeface="Microsoft YaHei" panose="020B0503020204020204" pitchFamily="34" charset="-122"/>
              </a:rPr>
              <a:t> The starting point or origin of the flight. </a:t>
            </a:r>
            <a:br>
              <a:rPr lang="en-US" altLang="en-US" sz="2200" dirty="0">
                <a:solidFill>
                  <a:schemeClr val="tx1"/>
                </a:solidFill>
                <a:latin typeface="Microsoft YaHei" panose="020B0503020204020204" pitchFamily="34" charset="-122"/>
                <a:ea typeface="Microsoft YaHei" panose="020B0503020204020204" pitchFamily="34" charset="-122"/>
              </a:rPr>
            </a:br>
            <a:br>
              <a:rPr lang="en-US" sz="2200" dirty="0">
                <a:latin typeface="Microsoft YaHei" panose="020B0503020204020204" pitchFamily="34" charset="-122"/>
                <a:ea typeface="Microsoft YaHei" panose="020B0503020204020204" pitchFamily="34" charset="-122"/>
                <a:cs typeface="+mj-lt"/>
              </a:rPr>
            </a:br>
            <a:endParaRPr lang="en-US" sz="2200" dirty="0">
              <a:latin typeface="Microsoft YaHei" panose="020B0503020204020204" pitchFamily="34" charset="-122"/>
              <a:ea typeface="Microsoft YaHei" panose="020B0503020204020204" pitchFamily="34" charset="-122"/>
              <a:cs typeface="+mj-lt"/>
            </a:endParaRPr>
          </a:p>
          <a:p>
            <a:endParaRPr lang="en-US" dirty="0"/>
          </a:p>
        </p:txBody>
      </p:sp>
      <p:sp>
        <p:nvSpPr>
          <p:cNvPr id="6" name="Slide Number Placeholder 5">
            <a:extLst>
              <a:ext uri="{FF2B5EF4-FFF2-40B4-BE49-F238E27FC236}">
                <a16:creationId xmlns:a16="http://schemas.microsoft.com/office/drawing/2014/main" id="{26129F18-6DE1-32B7-217B-881CAE042FFD}"/>
              </a:ext>
            </a:extLst>
          </p:cNvPr>
          <p:cNvSpPr>
            <a:spLocks noGrp="1"/>
          </p:cNvSpPr>
          <p:nvPr>
            <p:ph type="sldNum" sz="quarter" idx="12"/>
          </p:nvPr>
        </p:nvSpPr>
        <p:spPr/>
        <p:txBody>
          <a:bodyPr>
            <a:normAutofit/>
          </a:bodyPr>
          <a:lstStyle/>
          <a:p>
            <a:fld id="{D57F1E4F-1CFF-5643-939E-02111984F565}" type="slidenum">
              <a:rPr lang="en-US" dirty="0"/>
              <a:t>6</a:t>
            </a:fld>
            <a:endParaRPr lang="en-US"/>
          </a:p>
        </p:txBody>
      </p:sp>
    </p:spTree>
    <p:extLst>
      <p:ext uri="{BB962C8B-B14F-4D97-AF65-F5344CB8AC3E}">
        <p14:creationId xmlns:p14="http://schemas.microsoft.com/office/powerpoint/2010/main" val="1548037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7">
            <a:extLst>
              <a:ext uri="{FF2B5EF4-FFF2-40B4-BE49-F238E27FC236}">
                <a16:creationId xmlns:a16="http://schemas.microsoft.com/office/drawing/2014/main" id="{07B007D5-2E6E-BC3C-3D35-50897EE698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7322" y="2052638"/>
            <a:ext cx="7459132" cy="4195762"/>
          </a:xfrm>
        </p:spPr>
      </p:pic>
      <p:sp>
        <p:nvSpPr>
          <p:cNvPr id="4" name="Slide Number Placeholder 3">
            <a:extLst>
              <a:ext uri="{FF2B5EF4-FFF2-40B4-BE49-F238E27FC236}">
                <a16:creationId xmlns:a16="http://schemas.microsoft.com/office/drawing/2014/main" id="{254881E5-E1E5-0EDE-7A4D-A9005F334517}"/>
              </a:ext>
            </a:extLst>
          </p:cNvPr>
          <p:cNvSpPr>
            <a:spLocks noGrp="1"/>
          </p:cNvSpPr>
          <p:nvPr>
            <p:ph type="sldNum" sz="quarter" idx="12"/>
          </p:nvPr>
        </p:nvSpPr>
        <p:spPr/>
        <p:txBody>
          <a:bodyPr/>
          <a:lstStyle/>
          <a:p>
            <a:fld id="{D57F1E4F-1CFF-5643-939E-02111984F565}" type="slidenum">
              <a:rPr lang="en-US" smtClean="0"/>
              <a:t>7</a:t>
            </a:fld>
            <a:endParaRPr lang="en-US" dirty="0"/>
          </a:p>
        </p:txBody>
      </p:sp>
      <p:sp>
        <p:nvSpPr>
          <p:cNvPr id="8" name="TextBox 7">
            <a:extLst>
              <a:ext uri="{FF2B5EF4-FFF2-40B4-BE49-F238E27FC236}">
                <a16:creationId xmlns:a16="http://schemas.microsoft.com/office/drawing/2014/main" id="{F1373951-4997-4611-2432-E2EA339CB84A}"/>
              </a:ext>
            </a:extLst>
          </p:cNvPr>
          <p:cNvSpPr txBox="1"/>
          <p:nvPr/>
        </p:nvSpPr>
        <p:spPr>
          <a:xfrm>
            <a:off x="1219199" y="860854"/>
            <a:ext cx="4423720" cy="769441"/>
          </a:xfrm>
          <a:prstGeom prst="rect">
            <a:avLst/>
          </a:prstGeom>
          <a:noFill/>
        </p:spPr>
        <p:txBody>
          <a:bodyPr wrap="square">
            <a:spAutoFit/>
          </a:bodyPr>
          <a:lstStyle/>
          <a:p>
            <a:r>
              <a:rPr lang="en-US" sz="4400" b="1" dirty="0">
                <a:solidFill>
                  <a:srgbClr val="A6B727"/>
                </a:solidFill>
              </a:rPr>
              <a:t>ARCHITECTURE</a:t>
            </a:r>
            <a:endParaRPr lang="en-US" sz="4400" dirty="0"/>
          </a:p>
        </p:txBody>
      </p:sp>
    </p:spTree>
    <p:extLst>
      <p:ext uri="{BB962C8B-B14F-4D97-AF65-F5344CB8AC3E}">
        <p14:creationId xmlns:p14="http://schemas.microsoft.com/office/powerpoint/2010/main" val="785611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6F57F-944C-81E2-BF82-AAE7D1957AAE}"/>
              </a:ext>
            </a:extLst>
          </p:cNvPr>
          <p:cNvSpPr>
            <a:spLocks noGrp="1"/>
          </p:cNvSpPr>
          <p:nvPr>
            <p:ph type="title"/>
          </p:nvPr>
        </p:nvSpPr>
        <p:spPr>
          <a:xfrm>
            <a:off x="1143000" y="669155"/>
            <a:ext cx="2674746" cy="871319"/>
          </a:xfrm>
        </p:spPr>
        <p:txBody>
          <a:bodyPr>
            <a:normAutofit/>
          </a:bodyPr>
          <a:lstStyle/>
          <a:p>
            <a:r>
              <a:rPr lang="en-US" b="1" dirty="0"/>
              <a:t>INSIGHTS:</a:t>
            </a:r>
          </a:p>
        </p:txBody>
      </p:sp>
      <p:sp>
        <p:nvSpPr>
          <p:cNvPr id="4" name="Slide Number Placeholder 3">
            <a:extLst>
              <a:ext uri="{FF2B5EF4-FFF2-40B4-BE49-F238E27FC236}">
                <a16:creationId xmlns:a16="http://schemas.microsoft.com/office/drawing/2014/main" id="{6BCEF2EE-4AF3-9CC4-6D86-CC7D9F299565}"/>
              </a:ext>
            </a:extLst>
          </p:cNvPr>
          <p:cNvSpPr>
            <a:spLocks noGrp="1"/>
          </p:cNvSpPr>
          <p:nvPr>
            <p:ph type="sldNum" sz="quarter" idx="12"/>
          </p:nvPr>
        </p:nvSpPr>
        <p:spPr/>
        <p:txBody>
          <a:bodyPr>
            <a:normAutofit/>
          </a:bodyPr>
          <a:lstStyle/>
          <a:p>
            <a:fld id="{D57F1E4F-1CFF-5643-939E-02111984F565}" type="slidenum">
              <a:rPr lang="en-US" dirty="0"/>
              <a:t>8</a:t>
            </a:fld>
            <a:endParaRPr lang="en-US" dirty="0"/>
          </a:p>
        </p:txBody>
      </p:sp>
      <p:pic>
        <p:nvPicPr>
          <p:cNvPr id="7" name="Content Placeholder 6">
            <a:extLst>
              <a:ext uri="{FF2B5EF4-FFF2-40B4-BE49-F238E27FC236}">
                <a16:creationId xmlns:a16="http://schemas.microsoft.com/office/drawing/2014/main" id="{48EEE4A0-0433-4439-41B0-99434883C4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9667" y="1540473"/>
            <a:ext cx="8277727" cy="4927703"/>
          </a:xfrm>
        </p:spPr>
      </p:pic>
    </p:spTree>
    <p:extLst>
      <p:ext uri="{BB962C8B-B14F-4D97-AF65-F5344CB8AC3E}">
        <p14:creationId xmlns:p14="http://schemas.microsoft.com/office/powerpoint/2010/main" val="798413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348E-780C-E777-AA12-B4DDCD6849F2}"/>
              </a:ext>
            </a:extLst>
          </p:cNvPr>
          <p:cNvSpPr>
            <a:spLocks noGrp="1"/>
          </p:cNvSpPr>
          <p:nvPr>
            <p:ph type="title"/>
          </p:nvPr>
        </p:nvSpPr>
        <p:spPr>
          <a:xfrm>
            <a:off x="479442" y="1270535"/>
            <a:ext cx="10539078" cy="5322654"/>
          </a:xfrm>
        </p:spPr>
        <p:txBody>
          <a:bodyPr>
            <a:normAutofit fontScale="90000"/>
          </a:bodyPr>
          <a:lstStyle/>
          <a:p>
            <a:r>
              <a:rPr lang="en-US" sz="1800" b="1" dirty="0"/>
              <a:t>Route Analysis:</a:t>
            </a:r>
            <a:br>
              <a:rPr lang="en-US" sz="1800" dirty="0"/>
            </a:br>
            <a:r>
              <a:rPr lang="en-US" sz="1800" dirty="0"/>
              <a:t>What are the busiest domestic routes in the United States based on departure and arrival volumes?</a:t>
            </a:r>
            <a:br>
              <a:rPr lang="en-US" sz="1800" dirty="0"/>
            </a:br>
            <a:r>
              <a:rPr lang="en-US" sz="1800" dirty="0"/>
              <a:t>How does the distance between major city pairs influence flight frequency and passenger demand?</a:t>
            </a:r>
            <a:br>
              <a:rPr lang="en-US" sz="1800" dirty="0"/>
            </a:br>
            <a:r>
              <a:rPr lang="en-US" sz="1800" b="1" dirty="0"/>
              <a:t>Marketing Insight:</a:t>
            </a:r>
            <a:br>
              <a:rPr lang="en-US" sz="1800" dirty="0"/>
            </a:br>
            <a:r>
              <a:rPr lang="en-US" sz="1800" dirty="0"/>
              <a:t>How does Air New Zealand's extensive flight promotion strategy impact market visibility and passenger bookings?</a:t>
            </a:r>
            <a:br>
              <a:rPr lang="en-US" sz="1800" dirty="0"/>
            </a:br>
            <a:r>
              <a:rPr lang="en-US" sz="1800" dirty="0"/>
              <a:t>What marketing tactics are effective in increasing airline brand awareness and passenger engagement?</a:t>
            </a:r>
            <a:br>
              <a:rPr lang="en-US" sz="1800" dirty="0"/>
            </a:br>
            <a:r>
              <a:rPr lang="en-US" sz="1800" b="1" dirty="0"/>
              <a:t>Operational Insight:</a:t>
            </a:r>
            <a:br>
              <a:rPr lang="en-US" sz="1800" dirty="0"/>
            </a:br>
            <a:r>
              <a:rPr lang="en-US" sz="1800" dirty="0"/>
              <a:t>What factors contribute to United Airlines' ability to manage over 26,000 flights efficiently?</a:t>
            </a:r>
            <a:br>
              <a:rPr lang="en-US" sz="1800" dirty="0"/>
            </a:br>
            <a:r>
              <a:rPr lang="en-US" sz="1800" dirty="0"/>
              <a:t>How does an airline's operational capacity affect its market competitiveness and customer satisfaction?</a:t>
            </a:r>
            <a:br>
              <a:rPr lang="en-US" sz="1800" dirty="0"/>
            </a:br>
            <a:r>
              <a:rPr lang="en-US" sz="1800" b="1" dirty="0"/>
              <a:t>Longest Route:</a:t>
            </a:r>
            <a:br>
              <a:rPr lang="en-US" sz="1800" dirty="0"/>
            </a:br>
            <a:r>
              <a:rPr lang="en-US" sz="1800" dirty="0"/>
              <a:t>How do airlines manage operational challenges on long-haul routes like San Francisco to Singapore?</a:t>
            </a:r>
            <a:br>
              <a:rPr lang="en-US" sz="1800" dirty="0"/>
            </a:br>
            <a:r>
              <a:rPr lang="en-US" sz="1800" dirty="0"/>
              <a:t>What are the economic implications of operating ultra-long-haul flights compared to shorter routes?</a:t>
            </a:r>
            <a:br>
              <a:rPr lang="en-US" sz="1800" dirty="0"/>
            </a:br>
            <a:r>
              <a:rPr lang="en-US" sz="1800" b="1" dirty="0"/>
              <a:t>Traffic Volume:</a:t>
            </a:r>
            <a:br>
              <a:rPr lang="en-US" sz="1800" dirty="0"/>
            </a:br>
            <a:r>
              <a:rPr lang="en-US" sz="1800" dirty="0"/>
              <a:t>How does the day of the week impact air traffic volume, especially regarding departure and arrival frequencies?</a:t>
            </a:r>
            <a:br>
              <a:rPr lang="en-US" sz="1800" dirty="0"/>
            </a:br>
            <a:r>
              <a:rPr lang="en-US" sz="1800" dirty="0"/>
              <a:t>What strategies can airlines employ to manage peak travel times and optimize flight schedules?</a:t>
            </a:r>
            <a:br>
              <a:rPr lang="en-US" sz="1800" dirty="0"/>
            </a:br>
            <a:r>
              <a:rPr lang="en-US" sz="1800" b="1" dirty="0"/>
              <a:t>Punctuality Analysis:</a:t>
            </a:r>
            <a:br>
              <a:rPr lang="en-US" sz="1800" dirty="0"/>
            </a:br>
            <a:r>
              <a:rPr lang="en-US" sz="1800" dirty="0"/>
              <a:t>What are the main reasons behind delays for airlines like Singapore Airlines despite their moderate on-time arrival rate?</a:t>
            </a:r>
            <a:br>
              <a:rPr lang="en-US" sz="1800" dirty="0"/>
            </a:br>
            <a:br>
              <a:rPr lang="en-US" sz="1400" dirty="0"/>
            </a:br>
            <a:br>
              <a:rPr lang="en-US" sz="1400" dirty="0"/>
            </a:br>
            <a:endParaRPr lang="en-US" sz="1400" b="1" dirty="0"/>
          </a:p>
        </p:txBody>
      </p:sp>
      <p:sp>
        <p:nvSpPr>
          <p:cNvPr id="3" name="Content Placeholder 2">
            <a:extLst>
              <a:ext uri="{FF2B5EF4-FFF2-40B4-BE49-F238E27FC236}">
                <a16:creationId xmlns:a16="http://schemas.microsoft.com/office/drawing/2014/main" id="{70A6B1A2-CB48-C6D7-9131-BCF7E03F4393}"/>
              </a:ext>
            </a:extLst>
          </p:cNvPr>
          <p:cNvSpPr>
            <a:spLocks noGrp="1"/>
          </p:cNvSpPr>
          <p:nvPr>
            <p:ph idx="1"/>
          </p:nvPr>
        </p:nvSpPr>
        <p:spPr>
          <a:xfrm>
            <a:off x="11375674" y="2293549"/>
            <a:ext cx="336884" cy="334147"/>
          </a:xfrm>
        </p:spPr>
        <p:txBody>
          <a:bodyPr vert="horz" lIns="91440" tIns="45720" rIns="91440" bIns="45720" rtlCol="0" anchor="t">
            <a:normAutofit fontScale="92500" lnSpcReduction="20000"/>
          </a:bodyPr>
          <a:lstStyle/>
          <a:p>
            <a:endParaRPr lang="en-US" dirty="0"/>
          </a:p>
          <a:p>
            <a:pPr>
              <a:buClr>
                <a:srgbClr val="8AD0D6"/>
              </a:buClr>
            </a:pPr>
            <a:endParaRPr lang="en-US" dirty="0"/>
          </a:p>
          <a:p>
            <a:pPr>
              <a:buClr>
                <a:srgbClr val="8AD0D6"/>
              </a:buClr>
            </a:pPr>
            <a:endParaRPr lang="en-US" dirty="0"/>
          </a:p>
        </p:txBody>
      </p:sp>
      <p:sp>
        <p:nvSpPr>
          <p:cNvPr id="4" name="Slide Number Placeholder 3">
            <a:extLst>
              <a:ext uri="{FF2B5EF4-FFF2-40B4-BE49-F238E27FC236}">
                <a16:creationId xmlns:a16="http://schemas.microsoft.com/office/drawing/2014/main" id="{120D5E44-E451-D7EE-F32F-D9B542D9993B}"/>
              </a:ext>
            </a:extLst>
          </p:cNvPr>
          <p:cNvSpPr>
            <a:spLocks noGrp="1"/>
          </p:cNvSpPr>
          <p:nvPr>
            <p:ph type="sldNum" sz="quarter" idx="12"/>
          </p:nvPr>
        </p:nvSpPr>
        <p:spPr/>
        <p:txBody>
          <a:bodyPr>
            <a:normAutofit/>
          </a:bodyPr>
          <a:lstStyle/>
          <a:p>
            <a:fld id="{D57F1E4F-1CFF-5643-939E-02111984F565}" type="slidenum">
              <a:rPr lang="en-US" dirty="0"/>
              <a:t>9</a:t>
            </a:fld>
            <a:endParaRPr lang="en-US" dirty="0"/>
          </a:p>
        </p:txBody>
      </p:sp>
      <p:sp>
        <p:nvSpPr>
          <p:cNvPr id="6" name="TextBox 5">
            <a:extLst>
              <a:ext uri="{FF2B5EF4-FFF2-40B4-BE49-F238E27FC236}">
                <a16:creationId xmlns:a16="http://schemas.microsoft.com/office/drawing/2014/main" id="{2FBD1404-8731-A304-43C2-649A37AA3168}"/>
              </a:ext>
            </a:extLst>
          </p:cNvPr>
          <p:cNvSpPr txBox="1"/>
          <p:nvPr/>
        </p:nvSpPr>
        <p:spPr>
          <a:xfrm>
            <a:off x="479442" y="264811"/>
            <a:ext cx="6096000" cy="769441"/>
          </a:xfrm>
          <a:prstGeom prst="rect">
            <a:avLst/>
          </a:prstGeom>
          <a:noFill/>
        </p:spPr>
        <p:txBody>
          <a:bodyPr wrap="square">
            <a:spAutoFit/>
          </a:bodyPr>
          <a:lstStyle/>
          <a:p>
            <a:r>
              <a:rPr lang="en-US" sz="4400" b="1" dirty="0">
                <a:solidFill>
                  <a:srgbClr val="A6B727"/>
                </a:solidFill>
              </a:rPr>
              <a:t>KPI'S:</a:t>
            </a:r>
            <a:endParaRPr lang="en-US" sz="4400" dirty="0">
              <a:solidFill>
                <a:srgbClr val="A6B727"/>
              </a:solidFill>
            </a:endParaRPr>
          </a:p>
        </p:txBody>
      </p:sp>
    </p:spTree>
    <p:extLst>
      <p:ext uri="{BB962C8B-B14F-4D97-AF65-F5344CB8AC3E}">
        <p14:creationId xmlns:p14="http://schemas.microsoft.com/office/powerpoint/2010/main" val="515408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B8E83-B6CA-280A-9A23-CF614A885D51}"/>
              </a:ext>
            </a:extLst>
          </p:cNvPr>
          <p:cNvSpPr>
            <a:spLocks noGrp="1"/>
          </p:cNvSpPr>
          <p:nvPr>
            <p:ph type="title"/>
          </p:nvPr>
        </p:nvSpPr>
        <p:spPr>
          <a:xfrm>
            <a:off x="1150269" y="910094"/>
            <a:ext cx="4473289" cy="1026718"/>
          </a:xfrm>
        </p:spPr>
        <p:txBody>
          <a:bodyPr>
            <a:normAutofit fontScale="90000"/>
          </a:bodyPr>
          <a:lstStyle/>
          <a:p>
            <a:r>
              <a:rPr lang="en-US" sz="4900" b="1" dirty="0"/>
              <a:t>QUESTIONS:</a:t>
            </a:r>
            <a:br>
              <a:rPr lang="en-US" dirty="0"/>
            </a:br>
            <a:r>
              <a:rPr lang="en-US" sz="2800" dirty="0">
                <a:ea typeface="+mj-lt"/>
                <a:cs typeface="+mj-lt"/>
              </a:rPr>
              <a:t> </a:t>
            </a:r>
            <a:endParaRPr lang="en-US" sz="2800" dirty="0"/>
          </a:p>
        </p:txBody>
      </p:sp>
      <p:sp>
        <p:nvSpPr>
          <p:cNvPr id="3" name="Content Placeholder 2">
            <a:extLst>
              <a:ext uri="{FF2B5EF4-FFF2-40B4-BE49-F238E27FC236}">
                <a16:creationId xmlns:a16="http://schemas.microsoft.com/office/drawing/2014/main" id="{B7BFCD27-6DEB-0539-91C3-BA254BCDB50E}"/>
              </a:ext>
            </a:extLst>
          </p:cNvPr>
          <p:cNvSpPr>
            <a:spLocks noGrp="1"/>
          </p:cNvSpPr>
          <p:nvPr>
            <p:ph idx="1"/>
          </p:nvPr>
        </p:nvSpPr>
        <p:spPr>
          <a:xfrm flipV="1">
            <a:off x="298181" y="166777"/>
            <a:ext cx="852088" cy="505915"/>
          </a:xfrm>
        </p:spPr>
        <p:txBody>
          <a:bodyPr vert="horz" lIns="91440" tIns="45720" rIns="91440" bIns="45720" rtlCol="0" anchor="t">
            <a:normAutofit fontScale="77500" lnSpcReduction="20000"/>
          </a:bodyPr>
          <a:lstStyle/>
          <a:p>
            <a:pPr marL="0" indent="0">
              <a:buNone/>
            </a:pPr>
            <a:r>
              <a:rPr lang="en-US" dirty="0"/>
              <a:t>                 </a:t>
            </a:r>
            <a:endParaRPr lang="en-US"/>
          </a:p>
          <a:p>
            <a:pPr marL="0" indent="0">
              <a:buNone/>
            </a:pPr>
            <a:endParaRPr lang="en-US"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028437CF-3644-7C5C-38CB-84F07E2D5ACA}"/>
              </a:ext>
            </a:extLst>
          </p:cNvPr>
          <p:cNvSpPr>
            <a:spLocks noGrp="1"/>
          </p:cNvSpPr>
          <p:nvPr>
            <p:ph type="sldNum" sz="quarter" idx="12"/>
          </p:nvPr>
        </p:nvSpPr>
        <p:spPr/>
        <p:txBody>
          <a:bodyPr>
            <a:normAutofit/>
          </a:bodyPr>
          <a:lstStyle/>
          <a:p>
            <a:fld id="{D57F1E4F-1CFF-5643-939E-02111984F565}" type="slidenum">
              <a:rPr lang="en-US" dirty="0"/>
              <a:t>10</a:t>
            </a:fld>
            <a:endParaRPr lang="en-US" dirty="0"/>
          </a:p>
        </p:txBody>
      </p:sp>
      <p:sp>
        <p:nvSpPr>
          <p:cNvPr id="5" name="TextBox 4">
            <a:extLst>
              <a:ext uri="{FF2B5EF4-FFF2-40B4-BE49-F238E27FC236}">
                <a16:creationId xmlns:a16="http://schemas.microsoft.com/office/drawing/2014/main" id="{D94136FD-E00F-3BF0-620C-CA5466640141}"/>
              </a:ext>
            </a:extLst>
          </p:cNvPr>
          <p:cNvSpPr txBox="1"/>
          <p:nvPr/>
        </p:nvSpPr>
        <p:spPr>
          <a:xfrm>
            <a:off x="1150269" y="2162044"/>
            <a:ext cx="9658709" cy="39087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Q1) What’s the source of data?</a:t>
            </a:r>
          </a:p>
          <a:p>
            <a:endParaRPr lang="en-US" sz="2400" dirty="0"/>
          </a:p>
          <a:p>
            <a:r>
              <a:rPr lang="en-US" sz="2400" dirty="0"/>
              <a:t>The dataset is taken from PWSKILLS</a:t>
            </a:r>
          </a:p>
          <a:p>
            <a:endParaRPr lang="en-US" sz="2400" dirty="0"/>
          </a:p>
          <a:p>
            <a:r>
              <a:rPr lang="en-US" sz="2400" dirty="0"/>
              <a:t>Q2) What was the type of data?</a:t>
            </a:r>
          </a:p>
          <a:p>
            <a:endParaRPr lang="en-US" sz="2400" dirty="0"/>
          </a:p>
          <a:p>
            <a:r>
              <a:rPr lang="en-US" sz="2400" dirty="0"/>
              <a:t>The data was the combination of numerical and Categorical values.</a:t>
            </a:r>
          </a:p>
          <a:p>
            <a:endParaRPr lang="en-US" sz="2800" dirty="0"/>
          </a:p>
          <a:p>
            <a:endParaRPr lang="en-US" sz="2800" dirty="0"/>
          </a:p>
        </p:txBody>
      </p:sp>
    </p:spTree>
    <p:extLst>
      <p:ext uri="{BB962C8B-B14F-4D97-AF65-F5344CB8AC3E}">
        <p14:creationId xmlns:p14="http://schemas.microsoft.com/office/powerpoint/2010/main" val="2360949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8FA6F-72EB-28CA-B7D1-1702F24E3877}"/>
              </a:ext>
            </a:extLst>
          </p:cNvPr>
          <p:cNvSpPr>
            <a:spLocks noGrp="1"/>
          </p:cNvSpPr>
          <p:nvPr>
            <p:ph type="title"/>
          </p:nvPr>
        </p:nvSpPr>
        <p:spPr>
          <a:xfrm>
            <a:off x="1257054" y="1334530"/>
            <a:ext cx="9677892" cy="4333102"/>
          </a:xfrm>
        </p:spPr>
        <p:txBody>
          <a:bodyPr>
            <a:normAutofit fontScale="90000"/>
          </a:bodyPr>
          <a:lstStyle/>
          <a:p>
            <a:r>
              <a:rPr lang="en-US" sz="2400" dirty="0">
                <a:solidFill>
                  <a:schemeClr val="tx1"/>
                </a:solidFill>
                <a:latin typeface="Microsoft YaHei" panose="020B0503020204020204" pitchFamily="34" charset="-122"/>
                <a:ea typeface="Microsoft YaHei" panose="020B0503020204020204" pitchFamily="34" charset="-122"/>
                <a:cs typeface="+mj-lt"/>
              </a:rPr>
              <a:t>Q 3) What techniques were you using for data pre-processing?</a:t>
            </a:r>
            <a:endParaRPr lang="en-US" sz="2400" dirty="0">
              <a:solidFill>
                <a:schemeClr val="tx1"/>
              </a:solidFill>
              <a:latin typeface="Microsoft YaHei" panose="020B0503020204020204" pitchFamily="34" charset="-122"/>
              <a:ea typeface="Microsoft YaHei" panose="020B0503020204020204" pitchFamily="34" charset="-122"/>
            </a:endParaRPr>
          </a:p>
          <a:p>
            <a:endParaRPr lang="en-US" sz="2400" dirty="0">
              <a:solidFill>
                <a:schemeClr val="tx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en-US" sz="2400" dirty="0">
                <a:solidFill>
                  <a:schemeClr val="tx1"/>
                </a:solidFill>
                <a:latin typeface="Microsoft YaHei" panose="020B0503020204020204" pitchFamily="34" charset="-122"/>
                <a:ea typeface="Microsoft YaHei" panose="020B0503020204020204" pitchFamily="34" charset="-122"/>
                <a:cs typeface="+mj-lt"/>
              </a:rPr>
              <a:t>Removing unwanted attributes.</a:t>
            </a:r>
            <a:br>
              <a:rPr lang="en-US" sz="2400" dirty="0">
                <a:solidFill>
                  <a:schemeClr val="tx1"/>
                </a:solidFill>
                <a:latin typeface="Microsoft YaHei" panose="020B0503020204020204" pitchFamily="34" charset="-122"/>
                <a:ea typeface="Microsoft YaHei" panose="020B0503020204020204" pitchFamily="34" charset="-122"/>
                <a:cs typeface="+mj-lt"/>
              </a:rPr>
            </a:br>
            <a:endParaRPr lang="en-US" sz="2400" dirty="0">
              <a:solidFill>
                <a:schemeClr val="tx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en-US" sz="2400" dirty="0">
                <a:solidFill>
                  <a:schemeClr val="tx1"/>
                </a:solidFill>
                <a:latin typeface="Microsoft YaHei" panose="020B0503020204020204" pitchFamily="34" charset="-122"/>
                <a:ea typeface="Microsoft YaHei" panose="020B0503020204020204" pitchFamily="34" charset="-122"/>
                <a:cs typeface="+mj-lt"/>
              </a:rPr>
              <a:t>Visualizing relation of independent variables with each other and output variables.</a:t>
            </a:r>
            <a:br>
              <a:rPr lang="en-US" sz="2400" dirty="0">
                <a:solidFill>
                  <a:schemeClr val="tx1"/>
                </a:solidFill>
                <a:latin typeface="Microsoft YaHei" panose="020B0503020204020204" pitchFamily="34" charset="-122"/>
                <a:ea typeface="Microsoft YaHei" panose="020B0503020204020204" pitchFamily="34" charset="-122"/>
                <a:cs typeface="+mj-lt"/>
              </a:rPr>
            </a:br>
            <a:endParaRPr lang="en-US" sz="2400" dirty="0">
              <a:solidFill>
                <a:schemeClr val="tx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en-US" sz="2400" dirty="0">
                <a:solidFill>
                  <a:schemeClr val="tx1"/>
                </a:solidFill>
                <a:latin typeface="Microsoft YaHei" panose="020B0503020204020204" pitchFamily="34" charset="-122"/>
                <a:ea typeface="Microsoft YaHei" panose="020B0503020204020204" pitchFamily="34" charset="-122"/>
                <a:cs typeface="+mj-lt"/>
              </a:rPr>
              <a:t>Checking and changing Distribution of continuous values.</a:t>
            </a:r>
            <a:br>
              <a:rPr lang="en-US" sz="2400" dirty="0">
                <a:solidFill>
                  <a:schemeClr val="tx1"/>
                </a:solidFill>
                <a:latin typeface="Microsoft YaHei" panose="020B0503020204020204" pitchFamily="34" charset="-122"/>
                <a:ea typeface="Microsoft YaHei" panose="020B0503020204020204" pitchFamily="34" charset="-122"/>
                <a:cs typeface="+mj-lt"/>
              </a:rPr>
            </a:br>
            <a:endParaRPr lang="en-US" sz="2400" dirty="0">
              <a:solidFill>
                <a:schemeClr val="tx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en-US" sz="2400" dirty="0">
                <a:solidFill>
                  <a:schemeClr val="tx1"/>
                </a:solidFill>
                <a:latin typeface="Microsoft YaHei" panose="020B0503020204020204" pitchFamily="34" charset="-122"/>
                <a:ea typeface="Microsoft YaHei" panose="020B0503020204020204" pitchFamily="34" charset="-122"/>
                <a:cs typeface="+mj-lt"/>
              </a:rPr>
              <a:t>Removing outliers.</a:t>
            </a:r>
            <a:endParaRPr lang="en-US" sz="2400" dirty="0">
              <a:solidFill>
                <a:schemeClr val="tx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endParaRPr lang="en-US" sz="2400" dirty="0">
              <a:solidFill>
                <a:schemeClr val="tx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en-US" sz="2400" dirty="0">
                <a:solidFill>
                  <a:schemeClr val="tx1"/>
                </a:solidFill>
                <a:latin typeface="Microsoft YaHei" panose="020B0503020204020204" pitchFamily="34" charset="-122"/>
                <a:ea typeface="Microsoft YaHei" panose="020B0503020204020204" pitchFamily="34" charset="-122"/>
                <a:cs typeface="+mj-lt"/>
              </a:rPr>
              <a:t>Cleaning data and imputing if null values are present.</a:t>
            </a:r>
            <a:endParaRPr lang="en-US" sz="2400" dirty="0">
              <a:solidFill>
                <a:schemeClr val="tx1"/>
              </a:solidFill>
              <a:latin typeface="Microsoft YaHei" panose="020B0503020204020204" pitchFamily="34" charset="-122"/>
              <a:ea typeface="Microsoft YaHei" panose="020B0503020204020204" pitchFamily="34" charset="-122"/>
            </a:endParaRPr>
          </a:p>
        </p:txBody>
      </p:sp>
      <p:sp>
        <p:nvSpPr>
          <p:cNvPr id="3" name="Content Placeholder 2">
            <a:extLst>
              <a:ext uri="{FF2B5EF4-FFF2-40B4-BE49-F238E27FC236}">
                <a16:creationId xmlns:a16="http://schemas.microsoft.com/office/drawing/2014/main" id="{40FAC096-490B-DA32-9AAB-EC6998B74C1C}"/>
              </a:ext>
            </a:extLst>
          </p:cNvPr>
          <p:cNvSpPr>
            <a:spLocks noGrp="1"/>
          </p:cNvSpPr>
          <p:nvPr>
            <p:ph idx="1"/>
          </p:nvPr>
        </p:nvSpPr>
        <p:spPr>
          <a:xfrm>
            <a:off x="7156179" y="3677559"/>
            <a:ext cx="2893674" cy="2570840"/>
          </a:xfrm>
        </p:spPr>
        <p:txBody>
          <a:bodyPr vert="horz" lIns="91440" tIns="45720" rIns="91440" bIns="45720" rtlCol="0" anchor="t">
            <a:normAutofit/>
          </a:bodyPr>
          <a:lstStyle/>
          <a:p>
            <a:endParaRPr lang="en-US" dirty="0"/>
          </a:p>
          <a:p>
            <a:pPr marL="45720" indent="0">
              <a:buClr>
                <a:srgbClr val="8AD0D6"/>
              </a:buClr>
              <a:buNone/>
            </a:pPr>
            <a:endParaRPr lang="en-US" dirty="0"/>
          </a:p>
        </p:txBody>
      </p:sp>
      <p:sp>
        <p:nvSpPr>
          <p:cNvPr id="4" name="Slide Number Placeholder 3">
            <a:extLst>
              <a:ext uri="{FF2B5EF4-FFF2-40B4-BE49-F238E27FC236}">
                <a16:creationId xmlns:a16="http://schemas.microsoft.com/office/drawing/2014/main" id="{679FBFB2-D055-E67A-99FA-96BD228AD04B}"/>
              </a:ext>
            </a:extLst>
          </p:cNvPr>
          <p:cNvSpPr>
            <a:spLocks noGrp="1"/>
          </p:cNvSpPr>
          <p:nvPr>
            <p:ph type="sldNum" sz="quarter" idx="12"/>
          </p:nvPr>
        </p:nvSpPr>
        <p:spPr/>
        <p:txBody>
          <a:bodyPr>
            <a:normAutofit/>
          </a:bodyPr>
          <a:lstStyle/>
          <a:p>
            <a:fld id="{D57F1E4F-1CFF-5643-939E-02111984F565}" type="slidenum">
              <a:rPr lang="en-US" dirty="0"/>
              <a:t>11</a:t>
            </a:fld>
            <a:endParaRPr lang="en-US" dirty="0"/>
          </a:p>
        </p:txBody>
      </p:sp>
    </p:spTree>
    <p:extLst>
      <p:ext uri="{BB962C8B-B14F-4D97-AF65-F5344CB8AC3E}">
        <p14:creationId xmlns:p14="http://schemas.microsoft.com/office/powerpoint/2010/main" val="4273416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8835E0-B799-483D-BCCB-15A710085251}"/>
              </a:ext>
            </a:extLst>
          </p:cNvPr>
          <p:cNvSpPr>
            <a:spLocks noGrp="1"/>
          </p:cNvSpPr>
          <p:nvPr>
            <p:ph type="title"/>
          </p:nvPr>
        </p:nvSpPr>
        <p:spPr>
          <a:xfrm>
            <a:off x="3783350" y="2313523"/>
            <a:ext cx="5100768" cy="1400530"/>
          </a:xfrm>
        </p:spPr>
        <p:txBody>
          <a:bodyPr>
            <a:noAutofit/>
          </a:bodyPr>
          <a:lstStyle/>
          <a:p>
            <a:r>
              <a:rPr lang="en-US" sz="7200" b="1" dirty="0"/>
              <a:t>Thank you</a:t>
            </a:r>
          </a:p>
        </p:txBody>
      </p:sp>
      <p:pic>
        <p:nvPicPr>
          <p:cNvPr id="7" name="Picture 7" descr="Logo&#10;&#10;Description automatically generated">
            <a:extLst>
              <a:ext uri="{FF2B5EF4-FFF2-40B4-BE49-F238E27FC236}">
                <a16:creationId xmlns:a16="http://schemas.microsoft.com/office/drawing/2014/main" id="{154434F6-A78B-F05F-8F5A-9A2CB6157BE5}"/>
              </a:ext>
            </a:extLst>
          </p:cNvPr>
          <p:cNvPicPr>
            <a:picLocks noGrp="1" noChangeAspect="1"/>
          </p:cNvPicPr>
          <p:nvPr>
            <p:ph idx="1"/>
          </p:nvPr>
        </p:nvPicPr>
        <p:blipFill>
          <a:blip r:embed="rId2"/>
          <a:stretch>
            <a:fillRect/>
          </a:stretch>
        </p:blipFill>
        <p:spPr>
          <a:xfrm>
            <a:off x="212845" y="6159053"/>
            <a:ext cx="2176785" cy="569944"/>
          </a:xfrm>
        </p:spPr>
      </p:pic>
      <p:sp>
        <p:nvSpPr>
          <p:cNvPr id="4" name="Slide Number Placeholder 3">
            <a:extLst>
              <a:ext uri="{FF2B5EF4-FFF2-40B4-BE49-F238E27FC236}">
                <a16:creationId xmlns:a16="http://schemas.microsoft.com/office/drawing/2014/main" id="{5BF975C6-9D8D-B3DE-E4B9-B17A42E6A83A}"/>
              </a:ext>
            </a:extLst>
          </p:cNvPr>
          <p:cNvSpPr>
            <a:spLocks noGrp="1"/>
          </p:cNvSpPr>
          <p:nvPr>
            <p:ph type="sldNum" sz="quarter" idx="12"/>
          </p:nvPr>
        </p:nvSpPr>
        <p:spPr/>
        <p:txBody>
          <a:bodyPr>
            <a:normAutofit/>
          </a:bodyPr>
          <a:lstStyle/>
          <a:p>
            <a:fld id="{D57F1E4F-1CFF-5643-939E-02111984F565}" type="slidenum">
              <a:rPr lang="en-US" dirty="0"/>
              <a:t>12</a:t>
            </a:fld>
            <a:endParaRPr lang="en-US" dirty="0"/>
          </a:p>
        </p:txBody>
      </p:sp>
    </p:spTree>
    <p:extLst>
      <p:ext uri="{BB962C8B-B14F-4D97-AF65-F5344CB8AC3E}">
        <p14:creationId xmlns:p14="http://schemas.microsoft.com/office/powerpoint/2010/main" val="18211322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325</TotalTime>
  <Words>841</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Microsoft YaHei</vt:lpstr>
      <vt:lpstr>Arial</vt:lpstr>
      <vt:lpstr>Calibri</vt:lpstr>
      <vt:lpstr>Century Gothic</vt:lpstr>
      <vt:lpstr>Microsoft New Tai Lue</vt:lpstr>
      <vt:lpstr>Wingdings 3</vt:lpstr>
      <vt:lpstr>Ion</vt:lpstr>
      <vt:lpstr>AIR TRAVEL DATA ANALYSIS</vt:lpstr>
      <vt:lpstr>Project details:</vt:lpstr>
      <vt:lpstr>Objective:     The primary objective of this project is to analyze comprehensive air travel data to derive actionable insights that can enhance decision-making for airlines and stakeholders. This includes examining flight operations, route efficiency, and traffic volume to identify key trends and performance metrics. The project aims to improve operational efficiency by identifying factors contributing to delays and on-time performance. Additionally, it seeks to provide valuable marketing insights by analyzing airline promotional activities and market positioning. Overall, the project strives to enhance customer satisfaction by understanding passenger preferences and service quality. </vt:lpstr>
      <vt:lpstr>PowerPoint Presentation</vt:lpstr>
      <vt:lpstr>Dataset information:  The dataset contains detailed information regarding flight operations and events, captured across various columns:  Actual Timestamp: The actual timestamp when a specific event or action occurred  during the flight. Airline: The airline responsible for operating the flight. Arrival Latitude: The latitude coordinates of the arrival airport. Arrival Longitude: The longitude coordinates of the arrival airport. Base Airline: The primary airline associated with the flight operation. Base Flight Number: The base identifier for the flight within the airline's scheduling system. Date: The date of the flight or event. </vt:lpstr>
      <vt:lpstr>Departure Latitude: The latitude coordinates of the departure airport. Departure Longitude: The longitude coordinates of the departure airport. Destination: The final destination of the flight. Distance: The distance covered during the flight. Estimated Timestamp: The estimated timestamp for events or actions during the flight. Event Type: Type of event or action occurring during the flight (e.g., departure, arrival, delay). Flight Number: The unique identifier assigned to the flight. Flights Type: Type of flight (e.g., domestic, international). Gate: The gate assigned to the flight at the departure or arrival airport. Geometry Type: Type of geometric data representation (e.g., point, line). Route: The specific path or route taken by the flight. Source: The starting point or origin of the flight.    </vt:lpstr>
      <vt:lpstr>PowerPoint Presentation</vt:lpstr>
      <vt:lpstr>INSIGHTS:</vt:lpstr>
      <vt:lpstr>Route Analysis: What are the busiest domestic routes in the United States based on departure and arrival volumes? How does the distance between major city pairs influence flight frequency and passenger demand? Marketing Insight: How does Air New Zealand's extensive flight promotion strategy impact market visibility and passenger bookings? What marketing tactics are effective in increasing airline brand awareness and passenger engagement? Operational Insight: What factors contribute to United Airlines' ability to manage over 26,000 flights efficiently? How does an airline's operational capacity affect its market competitiveness and customer satisfaction? Longest Route: How do airlines manage operational challenges on long-haul routes like San Francisco to Singapore? What are the economic implications of operating ultra-long-haul flights compared to shorter routes? Traffic Volume: How does the day of the week impact air traffic volume, especially regarding departure and arrival frequencies? What strategies can airlines employ to manage peak travel times and optimize flight schedules? Punctuality Analysis: What are the main reasons behind delays for airlines like Singapore Airlines despite their moderate on-time arrival rate?   </vt:lpstr>
      <vt:lpstr>QUESTIONS:  </vt:lpstr>
      <vt:lpstr>Q 3) What techniques were you using for data pre-processing?  Removing unwanted attributes.  Visualizing relation of independent variables with each other and output variables.  Checking and changing Distribution of continuous values.  Removing outliers.  Cleaning data and imputing if null values are present.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nitish pandey</dc:creator>
  <cp:lastModifiedBy>nitish pandey</cp:lastModifiedBy>
  <cp:revision>475</cp:revision>
  <dcterms:created xsi:type="dcterms:W3CDTF">2022-10-12T14:46:04Z</dcterms:created>
  <dcterms:modified xsi:type="dcterms:W3CDTF">2024-07-05T20:20:23Z</dcterms:modified>
</cp:coreProperties>
</file>